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8" r:id="rId3"/>
    <p:sldId id="261" r:id="rId4"/>
    <p:sldId id="257" r:id="rId5"/>
    <p:sldId id="265" r:id="rId6"/>
    <p:sldId id="269" r:id="rId7"/>
    <p:sldId id="264" r:id="rId8"/>
    <p:sldId id="262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2EEBC-E931-4A7E-A1EF-DC5A146527B6}" v="1" dt="2026-05-02T01:35:18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7" d="100"/>
          <a:sy n="87" d="100"/>
        </p:scale>
        <p:origin x="60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cilla Nakyazze" userId="fc63a7932b465cf8" providerId="LiveId" clId="{26C8C266-674E-492B-83E5-64557FEA9FAD}"/>
    <pc:docChg chg="custSel addSld modSld">
      <pc:chgData name="Pricilla Nakyazze" userId="fc63a7932b465cf8" providerId="LiveId" clId="{26C8C266-674E-492B-83E5-64557FEA9FAD}" dt="2026-05-02T01:35:30.519" v="40" actId="5793"/>
      <pc:docMkLst>
        <pc:docMk/>
      </pc:docMkLst>
      <pc:sldChg chg="modSp mod">
        <pc:chgData name="Pricilla Nakyazze" userId="fc63a7932b465cf8" providerId="LiveId" clId="{26C8C266-674E-492B-83E5-64557FEA9FAD}" dt="2026-05-02T01:35:18.515" v="36" actId="27636"/>
        <pc:sldMkLst>
          <pc:docMk/>
          <pc:sldMk cId="1267790634" sldId="257"/>
        </pc:sldMkLst>
        <pc:spChg chg="mod">
          <ac:chgData name="Pricilla Nakyazze" userId="fc63a7932b465cf8" providerId="LiveId" clId="{26C8C266-674E-492B-83E5-64557FEA9FAD}" dt="2026-05-02T01:35:18.515" v="36" actId="27636"/>
          <ac:spMkLst>
            <pc:docMk/>
            <pc:sldMk cId="1267790634" sldId="257"/>
            <ac:spMk id="2" creationId="{BBC1B60A-ECA6-1665-470B-CC95CD8861CD}"/>
          </ac:spMkLst>
        </pc:spChg>
      </pc:sldChg>
      <pc:sldChg chg="modSp mod">
        <pc:chgData name="Pricilla Nakyazze" userId="fc63a7932b465cf8" providerId="LiveId" clId="{26C8C266-674E-492B-83E5-64557FEA9FAD}" dt="2026-05-02T01:21:17.264" v="16" actId="27636"/>
        <pc:sldMkLst>
          <pc:docMk/>
          <pc:sldMk cId="3203404581" sldId="267"/>
        </pc:sldMkLst>
        <pc:spChg chg="mod">
          <ac:chgData name="Pricilla Nakyazze" userId="fc63a7932b465cf8" providerId="LiveId" clId="{26C8C266-674E-492B-83E5-64557FEA9FAD}" dt="2026-05-02T01:21:17.264" v="16" actId="27636"/>
          <ac:spMkLst>
            <pc:docMk/>
            <pc:sldMk cId="3203404581" sldId="267"/>
            <ac:spMk id="3" creationId="{D6FD7FB6-6DC4-D937-1BD7-AF868CA4543B}"/>
          </ac:spMkLst>
        </pc:spChg>
      </pc:sldChg>
      <pc:sldChg chg="modSp new mod">
        <pc:chgData name="Pricilla Nakyazze" userId="fc63a7932b465cf8" providerId="LiveId" clId="{26C8C266-674E-492B-83E5-64557FEA9FAD}" dt="2026-05-02T01:35:30.519" v="40" actId="5793"/>
        <pc:sldMkLst>
          <pc:docMk/>
          <pc:sldMk cId="561315073" sldId="270"/>
        </pc:sldMkLst>
        <pc:spChg chg="mod">
          <ac:chgData name="Pricilla Nakyazze" userId="fc63a7932b465cf8" providerId="LiveId" clId="{26C8C266-674E-492B-83E5-64557FEA9FAD}" dt="2026-05-02T01:35:15.835" v="33" actId="20577"/>
          <ac:spMkLst>
            <pc:docMk/>
            <pc:sldMk cId="561315073" sldId="270"/>
            <ac:spMk id="2" creationId="{EBA45E11-9E21-A4A3-8B13-8E2EFCB2366C}"/>
          </ac:spMkLst>
        </pc:spChg>
        <pc:spChg chg="mod">
          <ac:chgData name="Pricilla Nakyazze" userId="fc63a7932b465cf8" providerId="LiveId" clId="{26C8C266-674E-492B-83E5-64557FEA9FAD}" dt="2026-05-02T01:35:30.519" v="40" actId="5793"/>
          <ac:spMkLst>
            <pc:docMk/>
            <pc:sldMk cId="561315073" sldId="270"/>
            <ac:spMk id="3" creationId="{1997182E-2430-A1FA-8151-B949562696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2C21-A9F5-EABB-3253-A973CFA54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Food </a:t>
            </a:r>
            <a:r>
              <a:rPr lang="en-US"/>
              <a:t>Insecurity in the USA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D7FB6-6DC4-D937-1BD7-AF868CA45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66455" cy="97764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/>
              <a:t>A Domestic Crisis </a:t>
            </a:r>
            <a:r>
              <a:rPr lang="en-US" dirty="0" err="1"/>
              <a:t>fuelled</a:t>
            </a:r>
            <a:r>
              <a:rPr lang="en-US" dirty="0"/>
              <a:t> by Household Structure, Education and Income Inequality. </a:t>
            </a:r>
          </a:p>
          <a:p>
            <a:endParaRPr lang="en-US"/>
          </a:p>
          <a:p>
            <a:r>
              <a:rPr lang="en-US"/>
              <a:t>By </a:t>
            </a:r>
            <a:r>
              <a:rPr lang="en-US" dirty="0"/>
              <a:t>Pricilla </a:t>
            </a:r>
            <a:r>
              <a:rPr lang="en-US" dirty="0" err="1"/>
              <a:t>Nakyazze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404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5AC0-4BC5-4F9C-0C23-9EC993919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60595" cy="34693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Where does the problem of Food insecurity </a:t>
            </a:r>
            <a:r>
              <a:rPr lang="en-US" sz="3200"/>
              <a:t>exist?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4F93BD-C09C-CE2F-8854-FC632B76ED8E}"/>
              </a:ext>
            </a:extLst>
          </p:cNvPr>
          <p:cNvSpPr txBox="1"/>
          <p:nvPr/>
        </p:nvSpPr>
        <p:spPr>
          <a:xfrm>
            <a:off x="5872293" y="6151926"/>
            <a:ext cx="5993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 from database: Food Prices for Nutrition </a:t>
            </a:r>
          </a:p>
        </p:txBody>
      </p:sp>
      <p:pic>
        <p:nvPicPr>
          <p:cNvPr id="12" name="Content Placeholder 11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C682FC22-6AA3-FE9C-47A4-E0B508384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4" y="909686"/>
            <a:ext cx="11851797" cy="524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11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64D4-1663-D5F9-8997-002E2F02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004"/>
            <a:ext cx="10515600" cy="448109"/>
          </a:xfrm>
        </p:spPr>
        <p:txBody>
          <a:bodyPr>
            <a:noAutofit/>
          </a:bodyPr>
          <a:lstStyle/>
          <a:p>
            <a:r>
              <a:rPr lang="en-US" sz="2800">
                <a:ea typeface="+mj-lt"/>
                <a:cs typeface="+mj-lt"/>
              </a:rPr>
              <a:t>Where are food insecurity and poverty most concentrated in the US?</a:t>
            </a:r>
            <a:endParaRPr lang="en-US" sz="2800"/>
          </a:p>
        </p:txBody>
      </p:sp>
      <p:pic>
        <p:nvPicPr>
          <p:cNvPr id="7" name="Content Placeholder 6" descr="A graph of the state of poverty&#10;&#10;AI-generated content may be incorrect.">
            <a:extLst>
              <a:ext uri="{FF2B5EF4-FFF2-40B4-BE49-F238E27FC236}">
                <a16:creationId xmlns:a16="http://schemas.microsoft.com/office/drawing/2014/main" id="{99E2D319-EBC1-EEDF-CC7B-FD55378DE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535" y="740353"/>
            <a:ext cx="9561414" cy="57598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80C400-8E28-1764-F1D4-A293CD1E9664}"/>
              </a:ext>
            </a:extLst>
          </p:cNvPr>
          <p:cNvSpPr txBox="1"/>
          <p:nvPr/>
        </p:nvSpPr>
        <p:spPr>
          <a:xfrm>
            <a:off x="7054451" y="6611815"/>
            <a:ext cx="517544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Data </a:t>
            </a:r>
            <a:r>
              <a:rPr lang="en-US" sz="1200" dirty="0" err="1"/>
              <a:t>source:Americadashboard</a:t>
            </a:r>
            <a:r>
              <a:rPr lang="en-US" sz="1200" dirty="0"/>
              <a:t>, Usda.gov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943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B60A-ECA6-1665-470B-CC95CD88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" y="11067"/>
            <a:ext cx="12139658" cy="1140832"/>
          </a:xfrm>
        </p:spPr>
        <p:txBody>
          <a:bodyPr>
            <a:normAutofit/>
          </a:bodyPr>
          <a:lstStyle/>
          <a:p>
            <a:r>
              <a:rPr lang="en-US" sz="3200"/>
              <a:t>Which households are most vulnerable to food insecurity, and where should public policy interventions be targeted first?</a:t>
            </a:r>
          </a:p>
        </p:txBody>
      </p:sp>
      <p:pic>
        <p:nvPicPr>
          <p:cNvPr id="4" name="Content Placeholder 3" descr="A graph with blue triangles&#10;&#10;AI-generated content may be incorrect.">
            <a:extLst>
              <a:ext uri="{FF2B5EF4-FFF2-40B4-BE49-F238E27FC236}">
                <a16:creationId xmlns:a16="http://schemas.microsoft.com/office/drawing/2014/main" id="{79F00C1E-2637-873D-DBD3-5BC1C4A74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466" y="986657"/>
            <a:ext cx="11356888" cy="57367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846737-E286-8FFE-FB71-0788E17A671C}"/>
              </a:ext>
            </a:extLst>
          </p:cNvPr>
          <p:cNvSpPr txBox="1"/>
          <p:nvPr/>
        </p:nvSpPr>
        <p:spPr>
          <a:xfrm>
            <a:off x="10115357" y="6425667"/>
            <a:ext cx="20889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Usda.gov statistics</a:t>
            </a:r>
          </a:p>
        </p:txBody>
      </p:sp>
    </p:spTree>
    <p:extLst>
      <p:ext uri="{BB962C8B-B14F-4D97-AF65-F5344CB8AC3E}">
        <p14:creationId xmlns:p14="http://schemas.microsoft.com/office/powerpoint/2010/main" val="1267790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6AFB8-F7B0-5BF5-69AA-F45566F62D3E}"/>
              </a:ext>
            </a:extLst>
          </p:cNvPr>
          <p:cNvSpPr txBox="1"/>
          <p:nvPr/>
        </p:nvSpPr>
        <p:spPr>
          <a:xfrm>
            <a:off x="571500" y="215081"/>
            <a:ext cx="109445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How strongly is food insecurity concentrated in states with the highest poverty rates?</a:t>
            </a:r>
          </a:p>
          <a:p>
            <a:pPr algn="ctr"/>
            <a:endParaRPr lang="en-US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69913FA4-D48D-8AB6-53A6-ADF9C4A8B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9530" y="934672"/>
            <a:ext cx="9170847" cy="564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86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4BA4-8413-FF8F-7AC1-A1329FBCD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map of the united states of america&#10;&#10;AI-generated content may be incorrect.">
            <a:extLst>
              <a:ext uri="{FF2B5EF4-FFF2-40B4-BE49-F238E27FC236}">
                <a16:creationId xmlns:a16="http://schemas.microsoft.com/office/drawing/2014/main" id="{165DA55C-CFF9-1CFB-42CD-77CE437D2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014" y="823964"/>
            <a:ext cx="10551454" cy="54759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192863-390D-8567-669F-EA83AFC6AD93}"/>
              </a:ext>
            </a:extLst>
          </p:cNvPr>
          <p:cNvSpPr txBox="1"/>
          <p:nvPr/>
        </p:nvSpPr>
        <p:spPr>
          <a:xfrm>
            <a:off x="1197267" y="210259"/>
            <a:ext cx="102525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Do states with the highest poverty rates also experience the highest food insecurity, indicating a structural link between economic hardship and access to nutrition?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32018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5533C-C47C-1B4E-FDE0-9F8A6B2D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98842" cy="40993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b="1" dirty="0"/>
              <a:t>Do </a:t>
            </a:r>
            <a:r>
              <a:rPr lang="en-US" sz="2800" b="1" dirty="0">
                <a:solidFill>
                  <a:srgbClr val="333333"/>
                </a:solidFill>
                <a:highlight>
                  <a:srgbClr val="FFFFFF"/>
                </a:highlight>
                <a:ea typeface="+mj-lt"/>
                <a:cs typeface="+mj-lt"/>
              </a:rPr>
              <a:t> correlations exist between level of poverty and food insecurity, malnutrition and starvation?</a:t>
            </a:r>
            <a:endParaRPr lang="en-US" sz="2800" b="1" dirty="0"/>
          </a:p>
        </p:txBody>
      </p:sp>
      <p:pic>
        <p:nvPicPr>
          <p:cNvPr id="4" name="Content Placeholder 3" descr="A graph of poverty&#10;&#10;AI-generated content may be incorrect.">
            <a:extLst>
              <a:ext uri="{FF2B5EF4-FFF2-40B4-BE49-F238E27FC236}">
                <a16:creationId xmlns:a16="http://schemas.microsoft.com/office/drawing/2014/main" id="{91558DCB-E212-9B83-278A-19491D834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0759" y="1039045"/>
            <a:ext cx="9136626" cy="545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7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809D-A3C3-CD0F-61A8-5B7C2DFF3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667" y="248367"/>
            <a:ext cx="9649133" cy="483676"/>
          </a:xfrm>
        </p:spPr>
        <p:txBody>
          <a:bodyPr>
            <a:normAutofit fontScale="90000"/>
          </a:bodyPr>
          <a:lstStyle/>
          <a:p>
            <a:r>
              <a:rPr lang="en-US" sz="3200"/>
              <a:t>What happens if these children grow into adulthood without intervention?</a:t>
            </a:r>
          </a:p>
        </p:txBody>
      </p:sp>
      <p:pic>
        <p:nvPicPr>
          <p:cNvPr id="4" name="Content Placeholder 3" descr="A map of the united states with blue circles&#10;&#10;AI-generated content may be incorrect.">
            <a:extLst>
              <a:ext uri="{FF2B5EF4-FFF2-40B4-BE49-F238E27FC236}">
                <a16:creationId xmlns:a16="http://schemas.microsoft.com/office/drawing/2014/main" id="{54155CC9-E314-D773-C9AE-B2BFAE876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9344" y="1309432"/>
            <a:ext cx="8951520" cy="48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9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5E11-9E21-A4A3-8B13-8E2EFCB2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7182E-2430-A1FA-8151-B94956269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Source: Food Prices and Nutrition, World Bank Databank. Click on a metadata icon for original source information to be used for citation.</a:t>
            </a:r>
          </a:p>
          <a:p>
            <a:r>
              <a:rPr lang="en-US" dirty="0"/>
              <a:t>https://databank.worldbank.org/source/food-prices-for-nutrition#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source for education: https://americadashboard.com/rankings/education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https://www.ers.usda.gov/topics/food-nutrition-assistance/food-security-in-the-us/key-statistics-graphics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https://www.fns.usda.gov/research/nutrition-education-coordination-report-congress-fy-2022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https://en.wikipedia.org/wiki/List_of_U.S._states_and_territories_by_income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315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261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Food Insecurity in the USA</vt:lpstr>
      <vt:lpstr>Where does the problem of Food insecurity exist?</vt:lpstr>
      <vt:lpstr>Where are food insecurity and poverty most concentrated in the US?</vt:lpstr>
      <vt:lpstr>Which households are most vulnerable to food insecurity, and where should public policy interventions be targeted first?</vt:lpstr>
      <vt:lpstr>PowerPoint Presentation</vt:lpstr>
      <vt:lpstr>PowerPoint Presentation</vt:lpstr>
      <vt:lpstr>Do  correlations exist between level of poverty and food insecurity, malnutrition and starvation?</vt:lpstr>
      <vt:lpstr>What happens if these children grow into adulthood without intervention?</vt:lpstr>
      <vt:lpstr>Data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Pricilla Nakyazze</dc:creator>
  <cp:lastModifiedBy>Pricilla Nakyazze</cp:lastModifiedBy>
  <cp:revision>242</cp:revision>
  <dcterms:created xsi:type="dcterms:W3CDTF">2026-04-30T02:07:50Z</dcterms:created>
  <dcterms:modified xsi:type="dcterms:W3CDTF">2026-05-02T01:35:40Z</dcterms:modified>
</cp:coreProperties>
</file>